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57" r:id="rId4"/>
    <p:sldId id="258" r:id="rId5"/>
    <p:sldId id="259" r:id="rId6"/>
    <p:sldId id="266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324" y="-5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02122C-7620-BDCF-CA8C-DB9BE2D1C3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C2687EC-00EE-05AA-D070-EF972ABB86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83AE25-AB0E-BD51-2815-799DD6ED5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F2FDAE-2AC4-29D5-5EF2-6B697F3B2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E144B2F-98D0-3819-2835-34546D557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02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5BB2F2-AB21-2F85-5602-4DDCC1108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F09F07-1B60-8889-16D2-8E4FCD773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D91447-2232-B35A-ACC7-DB159043D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38384E2-CDBB-70C2-BC2E-67169C1AC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E9D01C-D65A-E61C-9A4F-77188C36C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1739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A721B6-444B-D6E1-017B-D87E513B0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FAF159F-8A64-D09F-3B8E-31EED8F49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4C544E-5103-6B67-C2CB-EFFF84B90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DA68D4-0A35-A62A-BE5B-44F485183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CAECF04-89AB-2C04-80C9-776AE0D39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060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6C83BC-DACF-4FA5-7793-89965A5D8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02E6A33-ABBD-2F4B-DFC0-7A0225F7A1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44ED69D-D368-512E-707A-760A02A600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26B19D-249F-A967-27E6-0876F81AB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99DDC2-B179-2343-29F3-DBE40092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E908952-DAC4-5451-5193-A2239231B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0159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36B1C-1287-B741-5C0D-0D11FFA26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90B9892-9A48-EE6C-834A-33BC432FB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773E975-3AE2-E32E-5386-BD3B44DDC5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BF41BFE-F5D2-BD52-FC64-C2696657D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6E9E290-0E3C-5341-2AC0-ACF85316B0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74287D2-9061-735C-BEDF-B193B13E2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F326F53-0D44-A8F3-ABB1-703CE8DEE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A36A4D2-6138-A61B-95D5-4CA229E67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9370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3F3923-9E52-D9A9-F24D-BC272614B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D409831-A846-2306-6961-5AE0B8208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462D39-D253-BC84-046F-DBF3D0962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67667A-9EF5-BF5F-A2CA-FEDA748E5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1270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7323A24-470B-6E6D-9FCE-E9E7E8377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9A9EFBA-EA46-7535-5626-9DE5E35F1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9583D1-A8E1-5D2F-EFBF-1E9AE4440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9748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C9F947-8A09-1547-5165-2C60E2030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6AFABA-C98A-6149-FBE8-C8544A1A1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77F7AEB-9571-FEFF-5432-584390D32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5BD7C69-D726-DE83-1DDE-E64F3A80B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7AE1BDD-98AD-4FCB-14D7-4D3BAF5F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B43B9F-3752-F833-06A4-E23290863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600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97633D-4AA1-8824-DF6E-CD53F5D67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2D88B2D-43CE-61C4-E175-B83D1F55D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B670EC2-39B5-7B46-8822-C1623609B3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E3A1FCE-D805-EB21-1041-F02DE87B3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99A5F66-C986-4E49-3F1B-3D0D17B4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685BE0A-9EF9-4F6D-A6F1-07DD4F952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3682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2B42A0-73F7-EE5C-0350-BFA569048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761E8A2-6ADD-4D2F-A0DE-CF202CC46A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51CC387-2C60-FB1B-2EBC-68AC8EDDE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C146FF0-91A8-9577-A29F-B4638AD24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DF2F07-5EE9-0FDD-AB9F-B0F9B882F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747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FA7DAFD-F689-75FE-445F-5CFABFB3AD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C47FA34-D095-FC93-E6D2-18690A4340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47A8D01-47E2-294E-408E-BA6644BF0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A1A569C-DA3C-66C0-468E-53E6F98D8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823C231-8BF1-B6B0-5E36-D1BC9A9B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9380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39B85BF-1212-7BE0-61C1-B3964297F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EEDD37A-6362-A6FD-E2BC-927213CBB2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6DAF820-3FD2-F493-5C01-C8C9362DCF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E032BF-669F-4EED-B9B2-1AA354810069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EC10F30-151A-773C-7932-9D25DD486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BAC854A-A03A-B189-4BA8-FDAD204EEF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654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46101E-74FC-4352-9EF4-AB21DE4DB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2026.4.12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6A4701F-D3D8-705C-A97A-E8BF2B6373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3240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CEE90-0CF9-9124-922A-298B03239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B614F0-F762-9225-F087-0EAB99C99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1.5.6(b) </a:t>
            </a:r>
            <a:endParaRPr lang="zh-TW" alt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AA3FBDF4-43FF-33CA-B516-33E0EC27E4DD}"/>
              </a:ext>
            </a:extLst>
          </p:cNvPr>
          <p:cNvGrpSpPr/>
          <p:nvPr/>
        </p:nvGrpSpPr>
        <p:grpSpPr>
          <a:xfrm>
            <a:off x="3099335" y="1191978"/>
            <a:ext cx="2196644" cy="5300897"/>
            <a:chOff x="3099335" y="1191978"/>
            <a:chExt cx="2196644" cy="5300897"/>
          </a:xfrm>
        </p:grpSpPr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FA9E36C6-E6E7-5ED7-74B2-38ED229189D0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32CCD32C-AC7E-1BE3-EA7A-386E1B21F8CF}"/>
                </a:ext>
              </a:extLst>
            </p:cNvPr>
            <p:cNvSpPr txBox="1"/>
            <p:nvPr/>
          </p:nvSpPr>
          <p:spPr>
            <a:xfrm>
              <a:off x="3651201" y="5784989"/>
              <a:ext cx="4748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S</a:t>
              </a:r>
              <a:endParaRPr lang="zh-TW" altLang="en-US" sz="4000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218B663-BED5-23EE-4B0F-4AA0B213EFBF}"/>
                </a:ext>
              </a:extLst>
            </p:cNvPr>
            <p:cNvSpPr txBox="1"/>
            <p:nvPr/>
          </p:nvSpPr>
          <p:spPr>
            <a:xfrm>
              <a:off x="4133801" y="1191978"/>
              <a:ext cx="11621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1"/>
                  </a:solidFill>
                </a:rPr>
                <a:t>Degree 2</a:t>
              </a:r>
              <a:endParaRPr lang="zh-TW" altLang="en-US" sz="20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6" name="群組 5">
            <a:extLst>
              <a:ext uri="{FF2B5EF4-FFF2-40B4-BE49-F238E27FC236}">
                <a16:creationId xmlns:a16="http://schemas.microsoft.com/office/drawing/2014/main" id="{DAAC55BB-E346-9A0C-0ABE-40184A62867B}"/>
              </a:ext>
            </a:extLst>
          </p:cNvPr>
          <p:cNvGrpSpPr/>
          <p:nvPr/>
        </p:nvGrpSpPr>
        <p:grpSpPr>
          <a:xfrm>
            <a:off x="6807229" y="1731974"/>
            <a:ext cx="1927131" cy="4760901"/>
            <a:chOff x="2925040" y="1731974"/>
            <a:chExt cx="1927131" cy="4760901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B006F8BF-2095-3054-D0FB-34340A1412C9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B64F99A3-4B59-E59E-70C0-50864D3E4504}"/>
                </a:ext>
              </a:extLst>
            </p:cNvPr>
            <p:cNvSpPr txBox="1"/>
            <p:nvPr/>
          </p:nvSpPr>
          <p:spPr>
            <a:xfrm>
              <a:off x="2925040" y="5784989"/>
              <a:ext cx="192713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V(G)</a:t>
              </a:r>
              <a:r>
                <a:rPr lang="zh-TW" altLang="en-US" sz="4000" dirty="0"/>
                <a:t> </a:t>
              </a:r>
              <a:r>
                <a:rPr lang="en-US" altLang="zh-TW" sz="4000" dirty="0"/>
                <a:t>\</a:t>
              </a:r>
              <a:r>
                <a:rPr lang="zh-TW" altLang="en-US" sz="4000" dirty="0"/>
                <a:t> </a:t>
              </a:r>
              <a:r>
                <a:rPr lang="en-US" altLang="zh-TW" sz="4000" dirty="0"/>
                <a:t>S</a:t>
              </a:r>
              <a:r>
                <a:rPr lang="zh-TW" altLang="en-US" sz="4000" dirty="0"/>
                <a:t> 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450CA87D-ADBC-27AA-F191-902424506995}"/>
                  </a:ext>
                </a:extLst>
              </p:cNvPr>
              <p:cNvSpPr/>
              <p:nvPr/>
            </p:nvSpPr>
            <p:spPr>
              <a:xfrm>
                <a:off x="3651201" y="3158551"/>
                <a:ext cx="482600" cy="99695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450CA87D-ADBC-27AA-F191-9024245069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1201" y="3158551"/>
                <a:ext cx="482600" cy="99695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63D50317-4D43-F4A2-1A19-4BF2A500923F}"/>
              </a:ext>
            </a:extLst>
          </p:cNvPr>
          <p:cNvCxnSpPr>
            <a:stCxn id="9" idx="0"/>
          </p:cNvCxnSpPr>
          <p:nvPr/>
        </p:nvCxnSpPr>
        <p:spPr>
          <a:xfrm flipV="1">
            <a:off x="3892501" y="2311400"/>
            <a:ext cx="381049" cy="8471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F9EC6AC7-04E8-9463-74CE-0EF0360056B8}"/>
              </a:ext>
            </a:extLst>
          </p:cNvPr>
          <p:cNvCxnSpPr>
            <a:cxnSpLocks/>
          </p:cNvCxnSpPr>
          <p:nvPr/>
        </p:nvCxnSpPr>
        <p:spPr>
          <a:xfrm flipV="1">
            <a:off x="3888606" y="2228828"/>
            <a:ext cx="0" cy="9297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970E98DA-0708-468E-0A1E-46FFF1A180D8}"/>
              </a:ext>
            </a:extLst>
          </p:cNvPr>
          <p:cNvCxnSpPr>
            <a:cxnSpLocks/>
          </p:cNvCxnSpPr>
          <p:nvPr/>
        </p:nvCxnSpPr>
        <p:spPr>
          <a:xfrm flipH="1" flipV="1">
            <a:off x="3702051" y="2288861"/>
            <a:ext cx="182661" cy="8884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838E212C-1628-0F72-7E02-34CC0E23FDB9}"/>
              </a:ext>
            </a:extLst>
          </p:cNvPr>
          <p:cNvCxnSpPr>
            <a:cxnSpLocks/>
          </p:cNvCxnSpPr>
          <p:nvPr/>
        </p:nvCxnSpPr>
        <p:spPr>
          <a:xfrm flipH="1" flipV="1">
            <a:off x="3905462" y="4146128"/>
            <a:ext cx="182661" cy="8884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AD48039-8708-41D5-3064-9A628A431FC7}"/>
              </a:ext>
            </a:extLst>
          </p:cNvPr>
          <p:cNvCxnSpPr>
            <a:cxnSpLocks/>
          </p:cNvCxnSpPr>
          <p:nvPr/>
        </p:nvCxnSpPr>
        <p:spPr>
          <a:xfrm flipV="1">
            <a:off x="3880087" y="4155501"/>
            <a:ext cx="0" cy="8696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EE97D8DB-88EC-373F-FCC0-89E56B9DCF34}"/>
              </a:ext>
            </a:extLst>
          </p:cNvPr>
          <p:cNvCxnSpPr>
            <a:cxnSpLocks/>
          </p:cNvCxnSpPr>
          <p:nvPr/>
        </p:nvCxnSpPr>
        <p:spPr>
          <a:xfrm flipV="1">
            <a:off x="3703671" y="4146128"/>
            <a:ext cx="163729" cy="8471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78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529ACE-F236-D514-5263-241A0DD1E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1.5.6(b) </a:t>
            </a:r>
            <a:endParaRPr lang="zh-TW" alt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B7F53CC1-8B21-C7A9-41EC-6FA2AD44322D}"/>
              </a:ext>
            </a:extLst>
          </p:cNvPr>
          <p:cNvGrpSpPr/>
          <p:nvPr/>
        </p:nvGrpSpPr>
        <p:grpSpPr>
          <a:xfrm>
            <a:off x="1853794" y="1128954"/>
            <a:ext cx="8377964" cy="5363921"/>
            <a:chOff x="1853794" y="1128954"/>
            <a:chExt cx="8377964" cy="5363921"/>
          </a:xfrm>
        </p:grpSpPr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4804F3B6-B42E-93B0-EF8D-F31E183C885A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A88A7C2C-085D-93A0-1584-4A2F228E0C95}"/>
                </a:ext>
              </a:extLst>
            </p:cNvPr>
            <p:cNvSpPr txBox="1"/>
            <p:nvPr/>
          </p:nvSpPr>
          <p:spPr>
            <a:xfrm>
              <a:off x="3651201" y="5784989"/>
              <a:ext cx="4748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S</a:t>
              </a:r>
              <a:endParaRPr lang="zh-TW" altLang="en-US" sz="4000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134E30A6-CC33-D787-F5F6-1B1D770E44B3}"/>
                </a:ext>
              </a:extLst>
            </p:cNvPr>
            <p:cNvSpPr txBox="1"/>
            <p:nvPr/>
          </p:nvSpPr>
          <p:spPr>
            <a:xfrm>
              <a:off x="8010491" y="1128954"/>
              <a:ext cx="11621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rgbClr val="FF0000"/>
                  </a:solidFill>
                </a:rPr>
                <a:t>Degree 1</a:t>
              </a:r>
              <a:endParaRPr lang="zh-TW" altLang="en-US" sz="2000" dirty="0">
                <a:solidFill>
                  <a:srgbClr val="FF0000"/>
                </a:solidFill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E808A2E-D642-C32E-9171-AABE73F068AC}"/>
                </a:ext>
              </a:extLst>
            </p:cNvPr>
            <p:cNvSpPr txBox="1"/>
            <p:nvPr/>
          </p:nvSpPr>
          <p:spPr>
            <a:xfrm>
              <a:off x="1853794" y="3275662"/>
              <a:ext cx="11368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rgbClr val="FF0000"/>
                  </a:solidFill>
                </a:rPr>
                <a:t>|V(S)| = k</a:t>
              </a:r>
              <a:endParaRPr lang="zh-TW" altLang="en-US" sz="2000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75DF9B69-B038-B8BF-9B18-AA65D4447A74}"/>
                    </a:ext>
                  </a:extLst>
                </p:cNvPr>
                <p:cNvSpPr txBox="1"/>
                <p:nvPr/>
              </p:nvSpPr>
              <p:spPr>
                <a:xfrm>
                  <a:off x="8777449" y="3445320"/>
                  <a:ext cx="1454309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2000" dirty="0">
                      <a:solidFill>
                        <a:srgbClr val="FF0000"/>
                      </a:solidFill>
                    </a:rPr>
                    <a:t>Deg(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zh-TW" sz="2000" dirty="0">
                      <a:solidFill>
                        <a:srgbClr val="FF0000"/>
                      </a:solidFill>
                    </a:rPr>
                    <a:t>)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endParaRPr lang="zh-TW" altLang="en-US" sz="2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75DF9B69-B038-B8BF-9B18-AA65D4447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77449" y="3445320"/>
                  <a:ext cx="1454309" cy="400110"/>
                </a:xfrm>
                <a:prstGeom prst="rect">
                  <a:avLst/>
                </a:prstGeom>
                <a:blipFill>
                  <a:blip r:embed="rId2"/>
                  <a:stretch>
                    <a:fillRect l="-4622" t="-6061" b="-2727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群組 5">
            <a:extLst>
              <a:ext uri="{FF2B5EF4-FFF2-40B4-BE49-F238E27FC236}">
                <a16:creationId xmlns:a16="http://schemas.microsoft.com/office/drawing/2014/main" id="{78351EBE-80AE-B8DE-DAAE-BB072EBB60C3}"/>
              </a:ext>
            </a:extLst>
          </p:cNvPr>
          <p:cNvGrpSpPr/>
          <p:nvPr/>
        </p:nvGrpSpPr>
        <p:grpSpPr>
          <a:xfrm>
            <a:off x="6807229" y="1731974"/>
            <a:ext cx="1927131" cy="4760901"/>
            <a:chOff x="2925040" y="1731974"/>
            <a:chExt cx="1927131" cy="4760901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CACF3B6C-9D57-96A8-ACAF-E5B0C5E9E36C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7472449C-E60A-EBEA-3E82-2DD1DFA888CE}"/>
                </a:ext>
              </a:extLst>
            </p:cNvPr>
            <p:cNvSpPr txBox="1"/>
            <p:nvPr/>
          </p:nvSpPr>
          <p:spPr>
            <a:xfrm>
              <a:off x="2925040" y="5784989"/>
              <a:ext cx="192713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V(G)</a:t>
              </a:r>
              <a:r>
                <a:rPr lang="zh-TW" altLang="en-US" sz="4000" dirty="0"/>
                <a:t> </a:t>
              </a:r>
              <a:r>
                <a:rPr lang="en-US" altLang="zh-TW" sz="4000" dirty="0"/>
                <a:t>\</a:t>
              </a:r>
              <a:r>
                <a:rPr lang="zh-TW" altLang="en-US" sz="4000" dirty="0"/>
                <a:t> </a:t>
              </a:r>
              <a:r>
                <a:rPr lang="en-US" altLang="zh-TW" sz="4000" dirty="0"/>
                <a:t>S</a:t>
              </a:r>
              <a:r>
                <a:rPr lang="zh-TW" altLang="en-US" sz="4000" dirty="0"/>
                <a:t> 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68E1D142-AD82-61AA-5909-79BE1E492E10}"/>
                  </a:ext>
                </a:extLst>
              </p:cNvPr>
              <p:cNvSpPr/>
              <p:nvPr/>
            </p:nvSpPr>
            <p:spPr>
              <a:xfrm>
                <a:off x="7459621" y="3177297"/>
                <a:ext cx="482600" cy="99695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68E1D142-AD82-61AA-5909-79BE1E492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621" y="3177297"/>
                <a:ext cx="482600" cy="99695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4532BAAB-089A-5B63-80FB-29E8740BF134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4586661" y="2768918"/>
            <a:ext cx="2943635" cy="55437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F8FCCA27-1638-3A85-5F19-F2AB2F36D3D9}"/>
              </a:ext>
            </a:extLst>
          </p:cNvPr>
          <p:cNvCxnSpPr>
            <a:cxnSpLocks/>
            <a:stCxn id="9" idx="4"/>
          </p:cNvCxnSpPr>
          <p:nvPr/>
        </p:nvCxnSpPr>
        <p:spPr>
          <a:xfrm flipH="1">
            <a:off x="4538535" y="4174247"/>
            <a:ext cx="3162386" cy="72432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A7216356-CC8E-6C5A-ED47-611B196FC18B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4677878" y="3675772"/>
            <a:ext cx="2781743" cy="2124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983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AAA88-CDD4-BF65-48E8-A92BA5C5C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B9A3A7-AB61-527E-E167-C36FE9183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 </a:t>
            </a:r>
            <a:r>
              <a:rPr lang="en-US" altLang="zh-TW" dirty="0"/>
              <a:t>1.5.8*</a:t>
            </a:r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2A8F4BBB-0556-9F9E-C72D-47860563DF65}"/>
              </a:ext>
            </a:extLst>
          </p:cNvPr>
          <p:cNvGrpSpPr/>
          <p:nvPr/>
        </p:nvGrpSpPr>
        <p:grpSpPr>
          <a:xfrm>
            <a:off x="1173390" y="734989"/>
            <a:ext cx="5808134" cy="5757886"/>
            <a:chOff x="1173390" y="734989"/>
            <a:chExt cx="5808134" cy="5757886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10024CA2-410A-01EC-7DE8-E112543BBB54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ECF082E7-03A9-685B-4DF6-590C830DB94B}"/>
                </a:ext>
              </a:extLst>
            </p:cNvPr>
            <p:cNvSpPr txBox="1"/>
            <p:nvPr/>
          </p:nvSpPr>
          <p:spPr>
            <a:xfrm>
              <a:off x="3651201" y="5784989"/>
              <a:ext cx="46839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X</a:t>
              </a:r>
              <a:endParaRPr lang="zh-TW" altLang="en-US" sz="4000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0D593617-EBEB-9DF3-59C0-E640303CEC88}"/>
                </a:ext>
              </a:extLst>
            </p:cNvPr>
            <p:cNvSpPr txBox="1"/>
            <p:nvPr/>
          </p:nvSpPr>
          <p:spPr>
            <a:xfrm>
              <a:off x="2013749" y="3665216"/>
              <a:ext cx="99187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rgbClr val="FF0000"/>
                  </a:solidFill>
                </a:rPr>
                <a:t>size = a</a:t>
              </a:r>
              <a:endParaRPr lang="zh-TW" altLang="en-US" sz="2000" dirty="0">
                <a:solidFill>
                  <a:srgbClr val="FF0000"/>
                </a:solidFill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DA6CB305-B7F7-AF5D-489F-5E2BA85CBDB3}"/>
                </a:ext>
              </a:extLst>
            </p:cNvPr>
            <p:cNvSpPr txBox="1"/>
            <p:nvPr/>
          </p:nvSpPr>
          <p:spPr>
            <a:xfrm>
              <a:off x="5329756" y="1893932"/>
              <a:ext cx="99988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1"/>
                  </a:solidFill>
                </a:rPr>
                <a:t>size = b</a:t>
              </a:r>
              <a:endParaRPr lang="zh-TW" altLang="en-US" sz="2000" dirty="0">
                <a:solidFill>
                  <a:schemeClr val="accent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9DB3458F-FA51-B339-0F7E-C56A6B785ED4}"/>
                    </a:ext>
                  </a:extLst>
                </p:cNvPr>
                <p:cNvSpPr txBox="1"/>
                <p:nvPr/>
              </p:nvSpPr>
              <p:spPr>
                <a:xfrm>
                  <a:off x="4438840" y="734989"/>
                  <a:ext cx="2542684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4000" dirty="0"/>
                    <a:t>V(G) = X</a:t>
                  </a:r>
                  <a14:m>
                    <m:oMath xmlns:m="http://schemas.openxmlformats.org/officeDocument/2006/math">
                      <m:r>
                        <a:rPr lang="en-US" altLang="zh-TW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∪</m:t>
                      </m:r>
                    </m:oMath>
                  </a14:m>
                  <a:r>
                    <a:rPr lang="en-US" altLang="zh-TW" sz="4000" dirty="0"/>
                    <a:t>Y</a:t>
                  </a:r>
                  <a:endParaRPr lang="zh-TW" altLang="en-US" sz="4000" dirty="0"/>
                </a:p>
              </p:txBody>
            </p:sp>
          </mc:Choice>
          <mc:Fallback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9DB3458F-FA51-B339-0F7E-C56A6B785E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8840" y="734989"/>
                  <a:ext cx="2542684" cy="707886"/>
                </a:xfrm>
                <a:prstGeom prst="rect">
                  <a:avLst/>
                </a:prstGeom>
                <a:blipFill>
                  <a:blip r:embed="rId2"/>
                  <a:stretch>
                    <a:fillRect l="-8393" t="-15517" r="-7674" b="-3620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617E24B1-A2B2-3B9A-9F54-DE2023C7BC33}"/>
                </a:ext>
              </a:extLst>
            </p:cNvPr>
            <p:cNvSpPr txBox="1"/>
            <p:nvPr/>
          </p:nvSpPr>
          <p:spPr>
            <a:xfrm>
              <a:off x="5161321" y="3228945"/>
              <a:ext cx="15338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1"/>
                  </a:solidFill>
                </a:rPr>
                <a:t>(cross edge)</a:t>
              </a:r>
              <a:endParaRPr lang="zh-TW" altLang="en-US" sz="2000" dirty="0">
                <a:solidFill>
                  <a:schemeClr val="accent1"/>
                </a:solidFill>
              </a:endParaRP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0C8685A5-16B1-C07F-CEF3-5FBB3F515171}"/>
                </a:ext>
              </a:extLst>
            </p:cNvPr>
            <p:cNvSpPr txBox="1"/>
            <p:nvPr/>
          </p:nvSpPr>
          <p:spPr>
            <a:xfrm>
              <a:off x="1173390" y="4106612"/>
              <a:ext cx="20435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rgbClr val="FF0000"/>
                  </a:solidFill>
                </a:rPr>
                <a:t>(non-cross edge)</a:t>
              </a:r>
              <a:endParaRPr lang="zh-TW" altLang="en-US" sz="20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D921FFD-15D3-8B27-3E6F-7F1BAC98EEA0}"/>
              </a:ext>
            </a:extLst>
          </p:cNvPr>
          <p:cNvGrpSpPr/>
          <p:nvPr/>
        </p:nvGrpSpPr>
        <p:grpSpPr>
          <a:xfrm>
            <a:off x="6981524" y="1731974"/>
            <a:ext cx="1578543" cy="4765576"/>
            <a:chOff x="3099335" y="1731974"/>
            <a:chExt cx="1578543" cy="4765576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D8A77548-F1A0-B224-252B-33119E86A474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06BEE77A-E97D-ED21-26B9-24B0D3570E7F}"/>
                </a:ext>
              </a:extLst>
            </p:cNvPr>
            <p:cNvSpPr txBox="1"/>
            <p:nvPr/>
          </p:nvSpPr>
          <p:spPr>
            <a:xfrm>
              <a:off x="3657613" y="5789664"/>
              <a:ext cx="46198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Y</a:t>
              </a:r>
              <a:endParaRPr lang="zh-TW" altLang="en-US" sz="4000" dirty="0"/>
            </a:p>
          </p:txBody>
        </p:sp>
      </p:grpSp>
      <p:sp>
        <p:nvSpPr>
          <p:cNvPr id="13" name="流程圖: 接點 12">
            <a:extLst>
              <a:ext uri="{FF2B5EF4-FFF2-40B4-BE49-F238E27FC236}">
                <a16:creationId xmlns:a16="http://schemas.microsoft.com/office/drawing/2014/main" id="{8C3676B0-E197-1591-BCF4-559669081090}"/>
              </a:ext>
            </a:extLst>
          </p:cNvPr>
          <p:cNvSpPr/>
          <p:nvPr/>
        </p:nvSpPr>
        <p:spPr>
          <a:xfrm>
            <a:off x="3833215" y="2796419"/>
            <a:ext cx="104370" cy="97971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8B03B978-2115-2E76-0C32-17468A7ABE1B}"/>
              </a:ext>
            </a:extLst>
          </p:cNvPr>
          <p:cNvCxnSpPr>
            <a:stCxn id="13" idx="0"/>
          </p:cNvCxnSpPr>
          <p:nvPr/>
        </p:nvCxnSpPr>
        <p:spPr>
          <a:xfrm flipV="1">
            <a:off x="3885400" y="2233061"/>
            <a:ext cx="3654402" cy="5633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AE648FB8-B40F-A90E-298A-E266683E5461}"/>
              </a:ext>
            </a:extLst>
          </p:cNvPr>
          <p:cNvCxnSpPr>
            <a:cxnSpLocks/>
          </p:cNvCxnSpPr>
          <p:nvPr/>
        </p:nvCxnSpPr>
        <p:spPr>
          <a:xfrm>
            <a:off x="3885400" y="2850403"/>
            <a:ext cx="3628724" cy="4471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75A7A53A-C808-4F05-9679-F0AF2E48602A}"/>
              </a:ext>
            </a:extLst>
          </p:cNvPr>
          <p:cNvCxnSpPr>
            <a:cxnSpLocks/>
          </p:cNvCxnSpPr>
          <p:nvPr/>
        </p:nvCxnSpPr>
        <p:spPr>
          <a:xfrm flipV="1">
            <a:off x="3833215" y="2755133"/>
            <a:ext cx="3733094" cy="668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1BA868CD-92ED-E573-5413-9B8B14AAC875}"/>
              </a:ext>
            </a:extLst>
          </p:cNvPr>
          <p:cNvCxnSpPr>
            <a:cxnSpLocks/>
            <a:endCxn id="13" idx="3"/>
          </p:cNvCxnSpPr>
          <p:nvPr/>
        </p:nvCxnSpPr>
        <p:spPr>
          <a:xfrm flipV="1">
            <a:off x="3615833" y="2880042"/>
            <a:ext cx="232667" cy="186299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A7C8E2CD-AB81-429B-87F0-825F2060CB41}"/>
              </a:ext>
            </a:extLst>
          </p:cNvPr>
          <p:cNvCxnSpPr>
            <a:cxnSpLocks/>
            <a:endCxn id="13" idx="4"/>
          </p:cNvCxnSpPr>
          <p:nvPr/>
        </p:nvCxnSpPr>
        <p:spPr>
          <a:xfrm flipV="1">
            <a:off x="3868841" y="2894390"/>
            <a:ext cx="16559" cy="19322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0B1FFDB1-F392-155F-D8EB-3BE5F391FED5}"/>
              </a:ext>
            </a:extLst>
          </p:cNvPr>
          <p:cNvCxnSpPr>
            <a:cxnSpLocks/>
            <a:endCxn id="13" idx="5"/>
          </p:cNvCxnSpPr>
          <p:nvPr/>
        </p:nvCxnSpPr>
        <p:spPr>
          <a:xfrm flipH="1" flipV="1">
            <a:off x="3922300" y="2880042"/>
            <a:ext cx="295481" cy="184416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BB2B011-8347-2CF1-1427-DC13BA66C7A4}"/>
                  </a:ext>
                </a:extLst>
              </p:cNvPr>
              <p:cNvSpPr txBox="1"/>
              <p:nvPr/>
            </p:nvSpPr>
            <p:spPr>
              <a:xfrm>
                <a:off x="7645605" y="1165876"/>
                <a:ext cx="44050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TW" b="0" dirty="0"/>
                  <a:t>Let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𝑢𝑣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𝑜𝑟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BB2B011-8347-2CF1-1427-DC13BA66C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605" y="1165876"/>
                <a:ext cx="4405052" cy="276999"/>
              </a:xfrm>
              <a:prstGeom prst="rect">
                <a:avLst/>
              </a:prstGeom>
              <a:blipFill>
                <a:blip r:embed="rId3"/>
                <a:stretch>
                  <a:fillRect l="-3181" t="-26087" r="-1660" b="-5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BEC95B-B29D-0BEE-5207-4A69C50DAC61}"/>
              </a:ext>
            </a:extLst>
          </p:cNvPr>
          <p:cNvSpPr txBox="1"/>
          <p:nvPr/>
        </p:nvSpPr>
        <p:spPr>
          <a:xfrm>
            <a:off x="7403958" y="597680"/>
            <a:ext cx="4788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H </a:t>
            </a:r>
            <a:r>
              <a:rPr lang="zh-TW" altLang="en-US" dirty="0"/>
              <a:t>是所有 </a:t>
            </a:r>
            <a:r>
              <a:rPr lang="en-US" altLang="zh-TW" dirty="0"/>
              <a:t>cross edge </a:t>
            </a:r>
            <a:r>
              <a:rPr lang="zh-TW" altLang="en-US" dirty="0"/>
              <a:t>形成的 </a:t>
            </a:r>
            <a:r>
              <a:rPr lang="en-US" altLang="zh-TW" dirty="0"/>
              <a:t>induced subgraph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4063F7CB-755E-E050-E2C1-095F4C29CC23}"/>
                  </a:ext>
                </a:extLst>
              </p:cNvPr>
              <p:cNvSpPr txBox="1"/>
              <p:nvPr/>
            </p:nvSpPr>
            <p:spPr>
              <a:xfrm>
                <a:off x="9194199" y="3888861"/>
                <a:ext cx="1870833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𝑑𝑒𝑔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𝑑𝑒𝑔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</m:d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4063F7CB-755E-E050-E2C1-095F4C29C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4199" y="3888861"/>
                <a:ext cx="1870833" cy="617861"/>
              </a:xfrm>
              <a:prstGeom prst="rect">
                <a:avLst/>
              </a:prstGeom>
              <a:blipFill>
                <a:blip r:embed="rId4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4A7445B4-1ED0-C716-AE99-67BE36D7398A}"/>
                  </a:ext>
                </a:extLst>
              </p:cNvPr>
              <p:cNvSpPr txBox="1"/>
              <p:nvPr/>
            </p:nvSpPr>
            <p:spPr>
              <a:xfrm>
                <a:off x="8916423" y="4784313"/>
                <a:ext cx="30383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TW" b="0" dirty="0"/>
                  <a:t>2a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𝑑𝑒𝑔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4A7445B4-1ED0-C716-AE99-67BE36D73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6423" y="4784313"/>
                <a:ext cx="3038332" cy="276999"/>
              </a:xfrm>
              <a:prstGeom prst="rect">
                <a:avLst/>
              </a:prstGeom>
              <a:blipFill>
                <a:blip r:embed="rId5"/>
                <a:stretch>
                  <a:fillRect l="-4819" t="-26667" b="-5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E6A1A436-7B42-3432-67D8-6124C629FAF0}"/>
                  </a:ext>
                </a:extLst>
              </p:cNvPr>
              <p:cNvSpPr txBox="1"/>
              <p:nvPr/>
            </p:nvSpPr>
            <p:spPr>
              <a:xfrm>
                <a:off x="8991931" y="5173520"/>
                <a:ext cx="2733312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𝑑𝑒𝑔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&gt; 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𝑑𝑒𝑔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E6A1A436-7B42-3432-67D8-6124C629F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1931" y="5173520"/>
                <a:ext cx="2733312" cy="518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E8842D0-3A51-2F61-B1C3-6706979C8FE4}"/>
                  </a:ext>
                </a:extLst>
              </p:cNvPr>
              <p:cNvSpPr txBox="1"/>
              <p:nvPr/>
            </p:nvSpPr>
            <p:spPr>
              <a:xfrm>
                <a:off x="8418018" y="1899821"/>
                <a:ext cx="37739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TW" dirty="0"/>
                  <a:t>Assume a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altLang="zh-TW" dirty="0"/>
                  <a:t> b, if not, … , contradiction</a:t>
                </a:r>
                <a:endParaRPr lang="zh-TW" altLang="en-US" dirty="0"/>
              </a:p>
            </p:txBody>
          </p:sp>
        </mc:Choice>
        <mc:Fallback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E8842D0-3A51-2F61-B1C3-6706979C8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018" y="1899821"/>
                <a:ext cx="3773982" cy="276999"/>
              </a:xfrm>
              <a:prstGeom prst="rect">
                <a:avLst/>
              </a:prstGeom>
              <a:blipFill>
                <a:blip r:embed="rId7"/>
                <a:stretch>
                  <a:fillRect l="-3877" t="-26667" r="-3069" b="-5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BEF88DC4-8717-F921-4346-C291507577F6}"/>
                  </a:ext>
                </a:extLst>
              </p:cNvPr>
              <p:cNvSpPr txBox="1"/>
              <p:nvPr/>
            </p:nvSpPr>
            <p:spPr>
              <a:xfrm>
                <a:off x="9436620" y="2977819"/>
                <a:ext cx="16210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TW" dirty="0"/>
                  <a:t>Therefore , a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altLang="zh-TW" dirty="0"/>
                  <a:t> b</a:t>
                </a:r>
                <a:endParaRPr lang="zh-TW" altLang="en-US" dirty="0"/>
              </a:p>
            </p:txBody>
          </p:sp>
        </mc:Choice>
        <mc:Fallback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BEF88DC4-8717-F921-4346-C29150757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620" y="2977819"/>
                <a:ext cx="1621021" cy="276999"/>
              </a:xfrm>
              <a:prstGeom prst="rect">
                <a:avLst/>
              </a:prstGeom>
              <a:blipFill>
                <a:blip r:embed="rId8"/>
                <a:stretch>
                  <a:fillRect l="-8647" t="-26087" r="-7895" b="-5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80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CD019-F10E-7794-72C6-DD479894B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0E35FA-BAF5-A564-024A-00A233474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1.5.9*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F28286B-126A-CCCF-C9D7-A736424E35B9}"/>
              </a:ext>
            </a:extLst>
          </p:cNvPr>
          <p:cNvSpPr txBox="1"/>
          <p:nvPr/>
        </p:nvSpPr>
        <p:spPr>
          <a:xfrm>
            <a:off x="838200" y="1784816"/>
            <a:ext cx="4868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/>
              <a:t>(1) </a:t>
            </a:r>
            <a:r>
              <a:rPr lang="zh-TW" altLang="en-US" sz="2800" dirty="0"/>
              <a:t>證 </a:t>
            </a:r>
            <a:r>
              <a:rPr lang="en-US" altLang="zh-TW" sz="2800" dirty="0"/>
              <a:t>G</a:t>
            </a:r>
            <a:r>
              <a:rPr lang="zh-TW" altLang="en-US" sz="2800" dirty="0"/>
              <a:t> 為 </a:t>
            </a:r>
            <a:r>
              <a:rPr lang="en-US" altLang="zh-TW" sz="2800" dirty="0"/>
              <a:t>planar graph</a:t>
            </a:r>
            <a:endParaRPr lang="zh-TW" altLang="en-US" sz="28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7243CF2-80EF-235D-283B-06B133D62F76}"/>
              </a:ext>
            </a:extLst>
          </p:cNvPr>
          <p:cNvSpPr txBox="1"/>
          <p:nvPr/>
        </p:nvSpPr>
        <p:spPr>
          <a:xfrm>
            <a:off x="759188" y="3137005"/>
            <a:ext cx="46225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假設 </a:t>
            </a:r>
            <a:r>
              <a:rPr lang="en-US" altLang="zh-TW" sz="2000" dirty="0"/>
              <a:t>ab, cd </a:t>
            </a:r>
            <a:r>
              <a:rPr lang="zh-TW" altLang="en-US" sz="2000" dirty="0"/>
              <a:t>相交於 </a:t>
            </a:r>
            <a:r>
              <a:rPr lang="en-US" altLang="zh-TW" sz="2000" dirty="0"/>
              <a:t>O (by contradiction)</a:t>
            </a:r>
            <a:endParaRPr lang="zh-TW" altLang="en-US" sz="2000" dirty="0"/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57BB8A17-E1FE-CC64-D14A-F0BBA22617AE}"/>
              </a:ext>
            </a:extLst>
          </p:cNvPr>
          <p:cNvGrpSpPr/>
          <p:nvPr/>
        </p:nvGrpSpPr>
        <p:grpSpPr>
          <a:xfrm>
            <a:off x="1682750" y="4072467"/>
            <a:ext cx="2158853" cy="866965"/>
            <a:chOff x="1682750" y="4072467"/>
            <a:chExt cx="2158853" cy="866965"/>
          </a:xfrm>
        </p:grpSpPr>
        <p:cxnSp>
          <p:nvCxnSpPr>
            <p:cNvPr id="6" name="直線接點 5">
              <a:extLst>
                <a:ext uri="{FF2B5EF4-FFF2-40B4-BE49-F238E27FC236}">
                  <a16:creationId xmlns:a16="http://schemas.microsoft.com/office/drawing/2014/main" id="{BC64F06D-20FD-AD5A-81EF-1A23439C98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3619" y="4123267"/>
              <a:ext cx="1960181" cy="7653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圖: 接點 9">
              <a:extLst>
                <a:ext uri="{FF2B5EF4-FFF2-40B4-BE49-F238E27FC236}">
                  <a16:creationId xmlns:a16="http://schemas.microsoft.com/office/drawing/2014/main" id="{C345CD30-BE75-D741-F881-01CEBCB9906E}"/>
                </a:ext>
              </a:extLst>
            </p:cNvPr>
            <p:cNvSpPr/>
            <p:nvPr/>
          </p:nvSpPr>
          <p:spPr>
            <a:xfrm>
              <a:off x="1682750" y="4888632"/>
              <a:ext cx="50800" cy="50800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11" name="流程圖: 接點 10">
              <a:extLst>
                <a:ext uri="{FF2B5EF4-FFF2-40B4-BE49-F238E27FC236}">
                  <a16:creationId xmlns:a16="http://schemas.microsoft.com/office/drawing/2014/main" id="{F1F9E91E-813B-82C7-5042-3E927F01D02A}"/>
                </a:ext>
              </a:extLst>
            </p:cNvPr>
            <p:cNvSpPr/>
            <p:nvPr/>
          </p:nvSpPr>
          <p:spPr>
            <a:xfrm>
              <a:off x="3790803" y="4072467"/>
              <a:ext cx="50800" cy="50800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0153F31-12CE-668C-BAE1-C6DF944C8B8F}"/>
              </a:ext>
            </a:extLst>
          </p:cNvPr>
          <p:cNvGrpSpPr/>
          <p:nvPr/>
        </p:nvGrpSpPr>
        <p:grpSpPr>
          <a:xfrm>
            <a:off x="1927403" y="3564775"/>
            <a:ext cx="1961641" cy="1960181"/>
            <a:chOff x="4553763" y="3519055"/>
            <a:chExt cx="1961641" cy="1960181"/>
          </a:xfrm>
        </p:grpSpPr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52949FD-8374-07DE-E1AC-3F9C6C8ED741}"/>
                </a:ext>
              </a:extLst>
            </p:cNvPr>
            <p:cNvCxnSpPr>
              <a:cxnSpLocks/>
            </p:cNvCxnSpPr>
            <p:nvPr/>
          </p:nvCxnSpPr>
          <p:spPr>
            <a:xfrm rot="3207601" flipV="1">
              <a:off x="4549452" y="4116463"/>
              <a:ext cx="1960181" cy="76536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75076BB4-1BDC-8F53-EF91-EDFBCE63B082}"/>
                </a:ext>
              </a:extLst>
            </p:cNvPr>
            <p:cNvGrpSpPr/>
            <p:nvPr/>
          </p:nvGrpSpPr>
          <p:grpSpPr>
            <a:xfrm>
              <a:off x="4553763" y="3876665"/>
              <a:ext cx="1961641" cy="1258567"/>
              <a:chOff x="4553763" y="3876665"/>
              <a:chExt cx="1961641" cy="1258567"/>
            </a:xfrm>
          </p:grpSpPr>
          <p:sp>
            <p:nvSpPr>
              <p:cNvPr id="15" name="流程圖: 接點 14">
                <a:extLst>
                  <a:ext uri="{FF2B5EF4-FFF2-40B4-BE49-F238E27FC236}">
                    <a16:creationId xmlns:a16="http://schemas.microsoft.com/office/drawing/2014/main" id="{4B563C76-8B8C-D34C-6103-938F4BC87801}"/>
                  </a:ext>
                </a:extLst>
              </p:cNvPr>
              <p:cNvSpPr/>
              <p:nvPr/>
            </p:nvSpPr>
            <p:spPr>
              <a:xfrm rot="3207601">
                <a:off x="4553763" y="3876665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流程圖: 接點 15">
                <a:extLst>
                  <a:ext uri="{FF2B5EF4-FFF2-40B4-BE49-F238E27FC236}">
                    <a16:creationId xmlns:a16="http://schemas.microsoft.com/office/drawing/2014/main" id="{47B6C189-A65C-103D-52A2-8DF296B7D23F}"/>
                  </a:ext>
                </a:extLst>
              </p:cNvPr>
              <p:cNvSpPr/>
              <p:nvPr/>
            </p:nvSpPr>
            <p:spPr>
              <a:xfrm rot="3207601">
                <a:off x="6464604" y="5084432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139264-027B-A0D0-4EEC-952362B81C64}"/>
              </a:ext>
            </a:extLst>
          </p:cNvPr>
          <p:cNvSpPr txBox="1"/>
          <p:nvPr/>
        </p:nvSpPr>
        <p:spPr>
          <a:xfrm>
            <a:off x="1624706" y="37479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c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0E6E085-ABBA-9778-AEDF-B944CDC3346B}"/>
              </a:ext>
            </a:extLst>
          </p:cNvPr>
          <p:cNvSpPr txBox="1"/>
          <p:nvPr/>
        </p:nvSpPr>
        <p:spPr>
          <a:xfrm>
            <a:off x="3860618" y="5006417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d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72AE32E-2595-5E11-DF0D-9130EC69F47B}"/>
              </a:ext>
            </a:extLst>
          </p:cNvPr>
          <p:cNvSpPr txBox="1"/>
          <p:nvPr/>
        </p:nvSpPr>
        <p:spPr>
          <a:xfrm>
            <a:off x="3898606" y="3885325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1"/>
                </a:solidFill>
              </a:rPr>
              <a:t>b</a:t>
            </a:r>
            <a:endParaRPr lang="zh-TW" altLang="en-US" dirty="0">
              <a:solidFill>
                <a:schemeClr val="accent1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7D5BD30-B773-636C-A9B7-CC24E1B470E9}"/>
              </a:ext>
            </a:extLst>
          </p:cNvPr>
          <p:cNvSpPr txBox="1"/>
          <p:nvPr/>
        </p:nvSpPr>
        <p:spPr>
          <a:xfrm>
            <a:off x="1337699" y="48886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1"/>
                </a:solidFill>
              </a:rPr>
              <a:t>a</a:t>
            </a:r>
            <a:endParaRPr lang="zh-TW" altLang="en-US" dirty="0">
              <a:solidFill>
                <a:schemeClr val="accent1"/>
              </a:solidFill>
            </a:endParaRPr>
          </a:p>
        </p:txBody>
      </p:sp>
      <p:sp>
        <p:nvSpPr>
          <p:cNvPr id="23" name="流程圖: 接點 22">
            <a:extLst>
              <a:ext uri="{FF2B5EF4-FFF2-40B4-BE49-F238E27FC236}">
                <a16:creationId xmlns:a16="http://schemas.microsoft.com/office/drawing/2014/main" id="{50616E6A-7D9E-0080-72FF-F9F79E60B3CF}"/>
              </a:ext>
            </a:extLst>
          </p:cNvPr>
          <p:cNvSpPr/>
          <p:nvPr/>
        </p:nvSpPr>
        <p:spPr>
          <a:xfrm>
            <a:off x="2778156" y="4458630"/>
            <a:ext cx="45720" cy="45720"/>
          </a:xfrm>
          <a:prstGeom prst="flowChartConnector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171AA1D-C471-B674-12FF-F1CC1CAFA6AE}"/>
              </a:ext>
            </a:extLst>
          </p:cNvPr>
          <p:cNvSpPr txBox="1"/>
          <p:nvPr/>
        </p:nvSpPr>
        <p:spPr>
          <a:xfrm>
            <a:off x="2647385" y="411305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6"/>
                </a:solidFill>
              </a:rPr>
              <a:t>O</a:t>
            </a:r>
            <a:endParaRPr lang="zh-TW" altLang="en-US" dirty="0">
              <a:solidFill>
                <a:schemeClr val="accent6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60C4FE1-3D7A-0840-13D9-CD2F3FADF3F5}"/>
              </a:ext>
            </a:extLst>
          </p:cNvPr>
          <p:cNvSpPr txBox="1"/>
          <p:nvPr/>
        </p:nvSpPr>
        <p:spPr>
          <a:xfrm>
            <a:off x="6453018" y="2520031"/>
            <a:ext cx="46225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|ac| &lt; |</a:t>
            </a:r>
            <a:r>
              <a:rPr lang="en-US" altLang="zh-TW" sz="2000" dirty="0" err="1"/>
              <a:t>aO</a:t>
            </a:r>
            <a:r>
              <a:rPr lang="en-US" altLang="zh-TW" sz="2000" dirty="0"/>
              <a:t>| + |</a:t>
            </a:r>
            <a:r>
              <a:rPr lang="en-US" altLang="zh-TW" sz="2000" dirty="0" err="1"/>
              <a:t>oC</a:t>
            </a:r>
            <a:r>
              <a:rPr lang="en-US" altLang="zh-TW" sz="2000" dirty="0"/>
              <a:t>| = ½ + ½ = 1</a:t>
            </a:r>
            <a:r>
              <a:rPr lang="zh-TW" altLang="en-US" sz="2000" dirty="0"/>
              <a:t> </a:t>
            </a:r>
            <a:r>
              <a:rPr lang="en-US" altLang="zh-TW" sz="2000" dirty="0"/>
              <a:t>(</a:t>
            </a:r>
            <a:r>
              <a:rPr lang="zh-TW" altLang="en-US" sz="2000" dirty="0"/>
              <a:t>三角不等式</a:t>
            </a:r>
            <a:r>
              <a:rPr lang="en-US" altLang="zh-TW" sz="2000" dirty="0"/>
              <a:t>)</a:t>
            </a:r>
            <a:endParaRPr lang="zh-TW" altLang="en-US" sz="2000" dirty="0"/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783F1170-18D0-34FB-8719-B3CC10661B56}"/>
              </a:ext>
            </a:extLst>
          </p:cNvPr>
          <p:cNvGrpSpPr/>
          <p:nvPr/>
        </p:nvGrpSpPr>
        <p:grpSpPr>
          <a:xfrm>
            <a:off x="7446678" y="4283303"/>
            <a:ext cx="2158853" cy="866965"/>
            <a:chOff x="1682750" y="4072467"/>
            <a:chExt cx="2158853" cy="866965"/>
          </a:xfrm>
        </p:grpSpPr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EFFADFE4-C74B-DF76-6B37-B249B4D70F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3619" y="4123267"/>
              <a:ext cx="1960181" cy="7653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流程圖: 接點 27">
              <a:extLst>
                <a:ext uri="{FF2B5EF4-FFF2-40B4-BE49-F238E27FC236}">
                  <a16:creationId xmlns:a16="http://schemas.microsoft.com/office/drawing/2014/main" id="{A803CAE4-A701-0856-5473-E509782F8C5D}"/>
                </a:ext>
              </a:extLst>
            </p:cNvPr>
            <p:cNvSpPr/>
            <p:nvPr/>
          </p:nvSpPr>
          <p:spPr>
            <a:xfrm>
              <a:off x="1682750" y="4888632"/>
              <a:ext cx="50800" cy="50800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29" name="流程圖: 接點 28">
              <a:extLst>
                <a:ext uri="{FF2B5EF4-FFF2-40B4-BE49-F238E27FC236}">
                  <a16:creationId xmlns:a16="http://schemas.microsoft.com/office/drawing/2014/main" id="{E7CCA40E-2D29-0005-5A32-1E78ADABB84A}"/>
                </a:ext>
              </a:extLst>
            </p:cNvPr>
            <p:cNvSpPr/>
            <p:nvPr/>
          </p:nvSpPr>
          <p:spPr>
            <a:xfrm>
              <a:off x="3790803" y="4072467"/>
              <a:ext cx="50800" cy="50800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E5E34050-2CA8-689D-063F-BAA9113F5308}"/>
              </a:ext>
            </a:extLst>
          </p:cNvPr>
          <p:cNvGrpSpPr/>
          <p:nvPr/>
        </p:nvGrpSpPr>
        <p:grpSpPr>
          <a:xfrm>
            <a:off x="7691331" y="3775611"/>
            <a:ext cx="1961641" cy="1960181"/>
            <a:chOff x="4553763" y="3519055"/>
            <a:chExt cx="1961641" cy="1960181"/>
          </a:xfrm>
        </p:grpSpPr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A6C7A10E-7ACB-A343-EF79-7A5B31FDECB5}"/>
                </a:ext>
              </a:extLst>
            </p:cNvPr>
            <p:cNvCxnSpPr>
              <a:cxnSpLocks/>
            </p:cNvCxnSpPr>
            <p:nvPr/>
          </p:nvCxnSpPr>
          <p:spPr>
            <a:xfrm rot="3207601" flipV="1">
              <a:off x="4549452" y="4116463"/>
              <a:ext cx="1960181" cy="76536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86DAA5C4-2A15-68BD-1452-F4708E5EFEE9}"/>
                </a:ext>
              </a:extLst>
            </p:cNvPr>
            <p:cNvGrpSpPr/>
            <p:nvPr/>
          </p:nvGrpSpPr>
          <p:grpSpPr>
            <a:xfrm>
              <a:off x="4553763" y="3876665"/>
              <a:ext cx="1961641" cy="1258567"/>
              <a:chOff x="4553763" y="3876665"/>
              <a:chExt cx="1961641" cy="1258567"/>
            </a:xfrm>
          </p:grpSpPr>
          <p:sp>
            <p:nvSpPr>
              <p:cNvPr id="33" name="流程圖: 接點 32">
                <a:extLst>
                  <a:ext uri="{FF2B5EF4-FFF2-40B4-BE49-F238E27FC236}">
                    <a16:creationId xmlns:a16="http://schemas.microsoft.com/office/drawing/2014/main" id="{C3DD892E-DBDD-58BF-981B-C4A0E422FE14}"/>
                  </a:ext>
                </a:extLst>
              </p:cNvPr>
              <p:cNvSpPr/>
              <p:nvPr/>
            </p:nvSpPr>
            <p:spPr>
              <a:xfrm rot="3207601">
                <a:off x="4553763" y="3876665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4" name="流程圖: 接點 33">
                <a:extLst>
                  <a:ext uri="{FF2B5EF4-FFF2-40B4-BE49-F238E27FC236}">
                    <a16:creationId xmlns:a16="http://schemas.microsoft.com/office/drawing/2014/main" id="{EE7DBA43-7515-C13B-2342-8E9F5D35FA2F}"/>
                  </a:ext>
                </a:extLst>
              </p:cNvPr>
              <p:cNvSpPr/>
              <p:nvPr/>
            </p:nvSpPr>
            <p:spPr>
              <a:xfrm rot="3207601">
                <a:off x="6464604" y="5084432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D0FB988B-C35D-0A5E-846D-9B446EB4F387}"/>
              </a:ext>
            </a:extLst>
          </p:cNvPr>
          <p:cNvSpPr txBox="1"/>
          <p:nvPr/>
        </p:nvSpPr>
        <p:spPr>
          <a:xfrm>
            <a:off x="7388634" y="395878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c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E58801F-E436-E4EC-0CF0-F35A735889AD}"/>
              </a:ext>
            </a:extLst>
          </p:cNvPr>
          <p:cNvSpPr txBox="1"/>
          <p:nvPr/>
        </p:nvSpPr>
        <p:spPr>
          <a:xfrm>
            <a:off x="9624546" y="5217253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d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FD2BBE4-A7C1-207F-03DE-0836C8026156}"/>
              </a:ext>
            </a:extLst>
          </p:cNvPr>
          <p:cNvSpPr txBox="1"/>
          <p:nvPr/>
        </p:nvSpPr>
        <p:spPr>
          <a:xfrm>
            <a:off x="9662534" y="4096161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1"/>
                </a:solidFill>
              </a:rPr>
              <a:t>b</a:t>
            </a:r>
            <a:endParaRPr lang="zh-TW" altLang="en-US" dirty="0">
              <a:solidFill>
                <a:schemeClr val="accent1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D4779E8E-D1DD-694D-5D13-8546A429E467}"/>
              </a:ext>
            </a:extLst>
          </p:cNvPr>
          <p:cNvSpPr txBox="1"/>
          <p:nvPr/>
        </p:nvSpPr>
        <p:spPr>
          <a:xfrm>
            <a:off x="7101627" y="50994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1"/>
                </a:solidFill>
              </a:rPr>
              <a:t>a</a:t>
            </a:r>
            <a:endParaRPr lang="zh-TW" altLang="en-US" dirty="0">
              <a:solidFill>
                <a:schemeClr val="accent1"/>
              </a:solidFill>
            </a:endParaRPr>
          </a:p>
        </p:txBody>
      </p:sp>
      <p:sp>
        <p:nvSpPr>
          <p:cNvPr id="39" name="流程圖: 接點 38">
            <a:extLst>
              <a:ext uri="{FF2B5EF4-FFF2-40B4-BE49-F238E27FC236}">
                <a16:creationId xmlns:a16="http://schemas.microsoft.com/office/drawing/2014/main" id="{D6CEFA2A-C473-866D-7A06-BBC2077C86DB}"/>
              </a:ext>
            </a:extLst>
          </p:cNvPr>
          <p:cNvSpPr/>
          <p:nvPr/>
        </p:nvSpPr>
        <p:spPr>
          <a:xfrm>
            <a:off x="8542084" y="4669466"/>
            <a:ext cx="45720" cy="45720"/>
          </a:xfrm>
          <a:prstGeom prst="flowChartConnector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E156DCFE-7D29-FC8D-2305-457C4354A818}"/>
              </a:ext>
            </a:extLst>
          </p:cNvPr>
          <p:cNvSpPr txBox="1"/>
          <p:nvPr/>
        </p:nvSpPr>
        <p:spPr>
          <a:xfrm>
            <a:off x="8411313" y="4323886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6"/>
                </a:solidFill>
              </a:rPr>
              <a:t>O</a:t>
            </a:r>
            <a:endParaRPr lang="zh-TW" altLang="en-US" dirty="0">
              <a:solidFill>
                <a:schemeClr val="accent6"/>
              </a:solidFill>
            </a:endParaRPr>
          </a:p>
        </p:txBody>
      </p: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55B09AEC-86B4-0B95-9B2A-D7234DC2482B}"/>
              </a:ext>
            </a:extLst>
          </p:cNvPr>
          <p:cNvCxnSpPr>
            <a:cxnSpLocks/>
          </p:cNvCxnSpPr>
          <p:nvPr/>
        </p:nvCxnSpPr>
        <p:spPr>
          <a:xfrm flipH="1">
            <a:off x="7481396" y="4254657"/>
            <a:ext cx="213732" cy="81864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51E4A13E-7437-C60B-1D87-E507181C133F}"/>
              </a:ext>
            </a:extLst>
          </p:cNvPr>
          <p:cNvSpPr txBox="1"/>
          <p:nvPr/>
        </p:nvSpPr>
        <p:spPr>
          <a:xfrm>
            <a:off x="6453018" y="3080530"/>
            <a:ext cx="4622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與任意兩點距離至少為 </a:t>
            </a:r>
            <a:r>
              <a:rPr lang="en-US" altLang="zh-TW" sz="2000" dirty="0"/>
              <a:t>1 </a:t>
            </a:r>
            <a:r>
              <a:rPr lang="zh-TW" altLang="en-US" sz="2000" dirty="0"/>
              <a:t>矛盾，所以 </a:t>
            </a:r>
            <a:r>
              <a:rPr lang="en-US" altLang="zh-TW" sz="2000" dirty="0"/>
              <a:t>G</a:t>
            </a:r>
            <a:r>
              <a:rPr lang="zh-TW" altLang="en-US" sz="2000" dirty="0"/>
              <a:t> 為 </a:t>
            </a:r>
            <a:r>
              <a:rPr lang="en-US" altLang="zh-TW" sz="2000" dirty="0"/>
              <a:t>planar graph (</a:t>
            </a:r>
            <a:r>
              <a:rPr lang="zh-TW" altLang="en-US" sz="2000" dirty="0"/>
              <a:t>不存在兩點相交</a:t>
            </a:r>
            <a:r>
              <a:rPr lang="en-US" altLang="zh-TW" sz="2000" dirty="0"/>
              <a:t>)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682707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0636-A183-65A1-D6C5-5B9CBEF6B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B4C922-090E-68E0-3596-540AB3C8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1.5.9*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0CB19F6-90E8-3198-6686-A4B753C5B21C}"/>
              </a:ext>
            </a:extLst>
          </p:cNvPr>
          <p:cNvSpPr txBox="1"/>
          <p:nvPr/>
        </p:nvSpPr>
        <p:spPr>
          <a:xfrm>
            <a:off x="838200" y="1784816"/>
            <a:ext cx="4868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/>
              <a:t>(2) </a:t>
            </a:r>
            <a:r>
              <a:rPr lang="zh-TW" altLang="en-US" sz="2800" dirty="0"/>
              <a:t>用 </a:t>
            </a:r>
            <a:r>
              <a:rPr lang="en-US" altLang="zh-TW" sz="2800" dirty="0"/>
              <a:t>planar graph </a:t>
            </a:r>
            <a:r>
              <a:rPr lang="zh-TW" altLang="en-US" sz="2800" dirty="0"/>
              <a:t>估計邊數</a:t>
            </a:r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51BADCF-7D09-0F04-B9D3-B554C3A9888D}"/>
              </a:ext>
            </a:extLst>
          </p:cNvPr>
          <p:cNvSpPr/>
          <p:nvPr/>
        </p:nvSpPr>
        <p:spPr>
          <a:xfrm>
            <a:off x="2002055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0CA7D6A6-F333-0295-2454-5CE1205B818E}"/>
              </a:ext>
            </a:extLst>
          </p:cNvPr>
          <p:cNvSpPr/>
          <p:nvPr/>
        </p:nvSpPr>
        <p:spPr>
          <a:xfrm>
            <a:off x="3680058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6FC775D3-1660-0F1E-60FB-81E25E362751}"/>
              </a:ext>
            </a:extLst>
          </p:cNvPr>
          <p:cNvSpPr/>
          <p:nvPr/>
        </p:nvSpPr>
        <p:spPr>
          <a:xfrm>
            <a:off x="6663892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99CEC24-BCA9-226E-87EF-A353359938E3}"/>
              </a:ext>
            </a:extLst>
          </p:cNvPr>
          <p:cNvSpPr txBox="1"/>
          <p:nvPr/>
        </p:nvSpPr>
        <p:spPr>
          <a:xfrm>
            <a:off x="2291210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544E311-5A4B-EAD2-8C24-87C5E5557A74}"/>
              </a:ext>
            </a:extLst>
          </p:cNvPr>
          <p:cNvSpPr txBox="1"/>
          <p:nvPr/>
        </p:nvSpPr>
        <p:spPr>
          <a:xfrm>
            <a:off x="3969213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2</a:t>
            </a:r>
            <a:endParaRPr lang="zh-TW" altLang="en-US" sz="2000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D6C00DF-8C5E-05F4-54F8-844A4902CEAA}"/>
              </a:ext>
            </a:extLst>
          </p:cNvPr>
          <p:cNvSpPr txBox="1"/>
          <p:nvPr/>
        </p:nvSpPr>
        <p:spPr>
          <a:xfrm>
            <a:off x="6953047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k</a:t>
            </a:r>
            <a:endParaRPr lang="zh-TW" altLang="en-US" sz="20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6CC10D5-4780-A724-37F2-0249DD9167D3}"/>
              </a:ext>
            </a:extLst>
          </p:cNvPr>
          <p:cNvSpPr txBox="1"/>
          <p:nvPr/>
        </p:nvSpPr>
        <p:spPr>
          <a:xfrm>
            <a:off x="5361276" y="427371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…</a:t>
            </a:r>
            <a:endParaRPr lang="zh-TW" altLang="en-US" sz="2000" dirty="0"/>
          </a:p>
        </p:txBody>
      </p: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0EEF0040-602A-287E-EF20-9D4960B08B08}"/>
              </a:ext>
            </a:extLst>
          </p:cNvPr>
          <p:cNvCxnSpPr/>
          <p:nvPr/>
        </p:nvCxnSpPr>
        <p:spPr>
          <a:xfrm>
            <a:off x="2540000" y="3877733"/>
            <a:ext cx="151553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8469AE4F-4F90-D275-A86A-83B0FBBFAE75}"/>
              </a:ext>
            </a:extLst>
          </p:cNvPr>
          <p:cNvCxnSpPr/>
          <p:nvPr/>
        </p:nvCxnSpPr>
        <p:spPr>
          <a:xfrm>
            <a:off x="4142070" y="4157133"/>
            <a:ext cx="151553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6143C5E9-02FB-7AF5-785D-C28FE7D76F99}"/>
              </a:ext>
            </a:extLst>
          </p:cNvPr>
          <p:cNvCxnSpPr/>
          <p:nvPr/>
        </p:nvCxnSpPr>
        <p:spPr>
          <a:xfrm>
            <a:off x="5783229" y="5173133"/>
            <a:ext cx="151553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62319BC7-4537-E1AE-1473-485D2A57ABD9}"/>
              </a:ext>
            </a:extLst>
          </p:cNvPr>
          <p:cNvSpPr txBox="1"/>
          <p:nvPr/>
        </p:nvSpPr>
        <p:spPr>
          <a:xfrm>
            <a:off x="1192080" y="2980267"/>
            <a:ext cx="2543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加上 </a:t>
            </a:r>
            <a:r>
              <a:rPr lang="en-US" altLang="zh-TW" sz="2000" dirty="0"/>
              <a:t>k-1 </a:t>
            </a:r>
            <a:r>
              <a:rPr lang="zh-TW" altLang="en-US" sz="2000" dirty="0"/>
              <a:t>條邊使連通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036C2D5E-B876-CA26-1B99-C27C93A91A20}"/>
              </a:ext>
            </a:extLst>
          </p:cNvPr>
          <p:cNvSpPr txBox="1"/>
          <p:nvPr/>
        </p:nvSpPr>
        <p:spPr>
          <a:xfrm>
            <a:off x="1192080" y="2570255"/>
            <a:ext cx="2543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假設不連通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20D8697-3EA6-2112-0DE1-EFA2C0CA013F}"/>
              </a:ext>
            </a:extLst>
          </p:cNvPr>
          <p:cNvSpPr txBox="1"/>
          <p:nvPr/>
        </p:nvSpPr>
        <p:spPr>
          <a:xfrm>
            <a:off x="3083510" y="3877733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1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BD91D6BC-B238-000C-63BB-2A52630916EC}"/>
              </a:ext>
            </a:extLst>
          </p:cNvPr>
          <p:cNvSpPr txBox="1"/>
          <p:nvPr/>
        </p:nvSpPr>
        <p:spPr>
          <a:xfrm>
            <a:off x="4736819" y="4157133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2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E5B7304-F3D6-29F6-4874-83C0CB6AF358}"/>
              </a:ext>
            </a:extLst>
          </p:cNvPr>
          <p:cNvSpPr txBox="1"/>
          <p:nvPr/>
        </p:nvSpPr>
        <p:spPr>
          <a:xfrm>
            <a:off x="6368137" y="5220367"/>
            <a:ext cx="5849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K-1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8033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1C79F-9184-619C-DBD4-A5E50D4FA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55A0B1-0CA0-4C4E-5F40-452171FCB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 </a:t>
            </a:r>
            <a:r>
              <a:rPr lang="en-US" altLang="zh-TW" dirty="0"/>
              <a:t>1.6.3</a:t>
            </a:r>
            <a:endParaRPr lang="zh-TW" altLang="en-US" dirty="0"/>
          </a:p>
        </p:txBody>
      </p: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91C5503B-8653-08F0-1C05-14C5DE912459}"/>
              </a:ext>
            </a:extLst>
          </p:cNvPr>
          <p:cNvGrpSpPr/>
          <p:nvPr/>
        </p:nvGrpSpPr>
        <p:grpSpPr>
          <a:xfrm>
            <a:off x="2256897" y="3153484"/>
            <a:ext cx="4742165" cy="461630"/>
            <a:chOff x="2589585" y="3374802"/>
            <a:chExt cx="4742165" cy="461630"/>
          </a:xfrm>
        </p:grpSpPr>
        <p:cxnSp>
          <p:nvCxnSpPr>
            <p:cNvPr id="5" name="直線接點 4">
              <a:extLst>
                <a:ext uri="{FF2B5EF4-FFF2-40B4-BE49-F238E27FC236}">
                  <a16:creationId xmlns:a16="http://schemas.microsoft.com/office/drawing/2014/main" id="{D24BD3EE-8CAF-1E6E-1CA1-607D1E940476}"/>
                </a:ext>
              </a:extLst>
            </p:cNvPr>
            <p:cNvCxnSpPr>
              <a:cxnSpLocks/>
            </p:cNvCxnSpPr>
            <p:nvPr/>
          </p:nvCxnSpPr>
          <p:spPr>
            <a:xfrm>
              <a:off x="2928028" y="3400202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流程圖: 接點 5">
              <a:extLst>
                <a:ext uri="{FF2B5EF4-FFF2-40B4-BE49-F238E27FC236}">
                  <a16:creationId xmlns:a16="http://schemas.microsoft.com/office/drawing/2014/main" id="{53234CD8-7E4D-BEFF-D6E8-30DC0CD3CBC6}"/>
                </a:ext>
              </a:extLst>
            </p:cNvPr>
            <p:cNvSpPr/>
            <p:nvPr/>
          </p:nvSpPr>
          <p:spPr>
            <a:xfrm>
              <a:off x="2820225" y="3374802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4A6024E3-9607-E70A-05B9-0AD4F5D1D798}"/>
                    </a:ext>
                  </a:extLst>
                </p:cNvPr>
                <p:cNvSpPr txBox="1"/>
                <p:nvPr/>
              </p:nvSpPr>
              <p:spPr>
                <a:xfrm>
                  <a:off x="2589585" y="3457798"/>
                  <a:ext cx="46128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4A6024E3-9607-E70A-05B9-0AD4F5D1D7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9585" y="3457798"/>
                  <a:ext cx="461280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流程圖: 接點 11">
              <a:extLst>
                <a:ext uri="{FF2B5EF4-FFF2-40B4-BE49-F238E27FC236}">
                  <a16:creationId xmlns:a16="http://schemas.microsoft.com/office/drawing/2014/main" id="{CEC66ECD-ABA1-7203-83D7-E94366634069}"/>
                </a:ext>
              </a:extLst>
            </p:cNvPr>
            <p:cNvSpPr/>
            <p:nvPr/>
          </p:nvSpPr>
          <p:spPr>
            <a:xfrm>
              <a:off x="3633323" y="33841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13" name="流程圖: 接點 12">
              <a:extLst>
                <a:ext uri="{FF2B5EF4-FFF2-40B4-BE49-F238E27FC236}">
                  <a16:creationId xmlns:a16="http://schemas.microsoft.com/office/drawing/2014/main" id="{61ABF7CA-401B-91F8-51DC-9AE9A38763AB}"/>
                </a:ext>
              </a:extLst>
            </p:cNvPr>
            <p:cNvSpPr/>
            <p:nvPr/>
          </p:nvSpPr>
          <p:spPr>
            <a:xfrm>
              <a:off x="5111628" y="33841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14" name="流程圖: 接點 13">
              <a:extLst>
                <a:ext uri="{FF2B5EF4-FFF2-40B4-BE49-F238E27FC236}">
                  <a16:creationId xmlns:a16="http://schemas.microsoft.com/office/drawing/2014/main" id="{4FF589F5-191A-624B-6F69-F90D6CD3EB68}"/>
                </a:ext>
              </a:extLst>
            </p:cNvPr>
            <p:cNvSpPr/>
            <p:nvPr/>
          </p:nvSpPr>
          <p:spPr>
            <a:xfrm>
              <a:off x="5219431" y="3381987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0B8B3145-5969-EAD4-2328-F2ADDBE6A0CB}"/>
                </a:ext>
              </a:extLst>
            </p:cNvPr>
            <p:cNvSpPr/>
            <p:nvPr/>
          </p:nvSpPr>
          <p:spPr>
            <a:xfrm>
              <a:off x="5333405" y="3385775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F205E5B2-49AB-FB7B-A693-CAAC71E08AB2}"/>
                </a:ext>
              </a:extLst>
            </p:cNvPr>
            <p:cNvCxnSpPr>
              <a:cxnSpLocks/>
            </p:cNvCxnSpPr>
            <p:nvPr/>
          </p:nvCxnSpPr>
          <p:spPr>
            <a:xfrm>
              <a:off x="6285062" y="3390900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圖: 接點 21">
              <a:extLst>
                <a:ext uri="{FF2B5EF4-FFF2-40B4-BE49-F238E27FC236}">
                  <a16:creationId xmlns:a16="http://schemas.microsoft.com/office/drawing/2014/main" id="{9A6922A4-6178-F973-81F0-621B8757338F}"/>
                </a:ext>
              </a:extLst>
            </p:cNvPr>
            <p:cNvSpPr/>
            <p:nvPr/>
          </p:nvSpPr>
          <p:spPr>
            <a:xfrm>
              <a:off x="6990357" y="3374802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3454A18-53D8-A87F-44FA-CA889024E3D2}"/>
                </a:ext>
              </a:extLst>
            </p:cNvPr>
            <p:cNvCxnSpPr>
              <a:cxnSpLocks/>
            </p:cNvCxnSpPr>
            <p:nvPr/>
          </p:nvCxnSpPr>
          <p:spPr>
            <a:xfrm>
              <a:off x="3746482" y="3400202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流程圖: 接點 23">
              <a:extLst>
                <a:ext uri="{FF2B5EF4-FFF2-40B4-BE49-F238E27FC236}">
                  <a16:creationId xmlns:a16="http://schemas.microsoft.com/office/drawing/2014/main" id="{C85D1C47-6100-96BE-6712-67EAA901FF88}"/>
                </a:ext>
              </a:extLst>
            </p:cNvPr>
            <p:cNvSpPr/>
            <p:nvPr/>
          </p:nvSpPr>
          <p:spPr>
            <a:xfrm>
              <a:off x="4451777" y="33841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B8A121AC-E5F2-2345-6AD9-999EA18749B0}"/>
                    </a:ext>
                  </a:extLst>
                </p:cNvPr>
                <p:cNvSpPr txBox="1"/>
                <p:nvPr/>
              </p:nvSpPr>
              <p:spPr>
                <a:xfrm>
                  <a:off x="3428083" y="3457798"/>
                  <a:ext cx="455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B8A121AC-E5F2-2345-6AD9-999EA18749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083" y="3457798"/>
                  <a:ext cx="45595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77659868-C63F-7B5D-D0E3-ED555B522041}"/>
                    </a:ext>
                  </a:extLst>
                </p:cNvPr>
                <p:cNvSpPr txBox="1"/>
                <p:nvPr/>
              </p:nvSpPr>
              <p:spPr>
                <a:xfrm>
                  <a:off x="4246537" y="3457798"/>
                  <a:ext cx="46128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77659868-C63F-7B5D-D0E3-ED555B5220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6537" y="3457798"/>
                  <a:ext cx="46128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F5E578DE-9644-191C-2CBF-EE544F5603FB}"/>
                    </a:ext>
                  </a:extLst>
                </p:cNvPr>
                <p:cNvSpPr txBox="1"/>
                <p:nvPr/>
              </p:nvSpPr>
              <p:spPr>
                <a:xfrm>
                  <a:off x="6810517" y="3467100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F5E578DE-9644-191C-2CBF-EE544F5603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0517" y="3467100"/>
                  <a:ext cx="521233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241C627B-405F-C89E-CFBE-8DC61CA1352D}"/>
                  </a:ext>
                </a:extLst>
              </p:cNvPr>
              <p:cNvSpPr txBox="1"/>
              <p:nvPr/>
            </p:nvSpPr>
            <p:spPr>
              <a:xfrm>
                <a:off x="887875" y="2158762"/>
                <a:ext cx="32930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>
                    <a:solidFill>
                      <a:schemeClr val="tx1"/>
                    </a:solidFill>
                  </a:rPr>
                  <a:t>假設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P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… </m:t>
                        </m:r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zh-TW" altLang="en-US" dirty="0">
                    <a:solidFill>
                      <a:schemeClr val="tx1"/>
                    </a:solidFill>
                  </a:rPr>
                  <a:t> 為最長路徑</a:t>
                </a:r>
              </a:p>
            </p:txBody>
          </p:sp>
        </mc:Choice>
        <mc:Fallback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241C627B-405F-C89E-CFBE-8DC61CA13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875" y="2158762"/>
                <a:ext cx="3293081" cy="369332"/>
              </a:xfrm>
              <a:prstGeom prst="rect">
                <a:avLst/>
              </a:prstGeom>
              <a:blipFill>
                <a:blip r:embed="rId6"/>
                <a:stretch>
                  <a:fillRect l="-1667" t="-8197" r="-1111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群組 42">
            <a:extLst>
              <a:ext uri="{FF2B5EF4-FFF2-40B4-BE49-F238E27FC236}">
                <a16:creationId xmlns:a16="http://schemas.microsoft.com/office/drawing/2014/main" id="{48FF00C6-7F3D-397D-3FAB-C5B6A22F09E1}"/>
              </a:ext>
            </a:extLst>
          </p:cNvPr>
          <p:cNvGrpSpPr/>
          <p:nvPr/>
        </p:nvGrpSpPr>
        <p:grpSpPr>
          <a:xfrm>
            <a:off x="2489497" y="5142301"/>
            <a:ext cx="4742165" cy="461630"/>
            <a:chOff x="2741985" y="3527202"/>
            <a:chExt cx="4742165" cy="461630"/>
          </a:xfrm>
        </p:grpSpPr>
        <p:cxnSp>
          <p:nvCxnSpPr>
            <p:cNvPr id="29" name="直線接點 28">
              <a:extLst>
                <a:ext uri="{FF2B5EF4-FFF2-40B4-BE49-F238E27FC236}">
                  <a16:creationId xmlns:a16="http://schemas.microsoft.com/office/drawing/2014/main" id="{F9314F26-9F87-DD89-D858-308357EE6709}"/>
                </a:ext>
              </a:extLst>
            </p:cNvPr>
            <p:cNvCxnSpPr>
              <a:cxnSpLocks/>
            </p:cNvCxnSpPr>
            <p:nvPr/>
          </p:nvCxnSpPr>
          <p:spPr>
            <a:xfrm>
              <a:off x="3080428" y="3552602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流程圖: 接點 29">
              <a:extLst>
                <a:ext uri="{FF2B5EF4-FFF2-40B4-BE49-F238E27FC236}">
                  <a16:creationId xmlns:a16="http://schemas.microsoft.com/office/drawing/2014/main" id="{9135F4DE-01FA-E8FC-5A31-29AD01FCD6B7}"/>
                </a:ext>
              </a:extLst>
            </p:cNvPr>
            <p:cNvSpPr/>
            <p:nvPr/>
          </p:nvSpPr>
          <p:spPr>
            <a:xfrm>
              <a:off x="2972625" y="3527202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50D79676-35D9-DDC1-C154-A73C4F92E2D6}"/>
                    </a:ext>
                  </a:extLst>
                </p:cNvPr>
                <p:cNvSpPr txBox="1"/>
                <p:nvPr/>
              </p:nvSpPr>
              <p:spPr>
                <a:xfrm>
                  <a:off x="2741985" y="3610198"/>
                  <a:ext cx="46128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50D79676-35D9-DDC1-C154-A73C4F92E2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1985" y="3610198"/>
                  <a:ext cx="46128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流程圖: 接點 31">
              <a:extLst>
                <a:ext uri="{FF2B5EF4-FFF2-40B4-BE49-F238E27FC236}">
                  <a16:creationId xmlns:a16="http://schemas.microsoft.com/office/drawing/2014/main" id="{AAEE9F82-9C9F-24EF-FA88-E4ECF59BF3C6}"/>
                </a:ext>
              </a:extLst>
            </p:cNvPr>
            <p:cNvSpPr/>
            <p:nvPr/>
          </p:nvSpPr>
          <p:spPr>
            <a:xfrm>
              <a:off x="3785723" y="35365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33" name="流程圖: 接點 32">
              <a:extLst>
                <a:ext uri="{FF2B5EF4-FFF2-40B4-BE49-F238E27FC236}">
                  <a16:creationId xmlns:a16="http://schemas.microsoft.com/office/drawing/2014/main" id="{AE23A740-0D82-DC19-9B44-BD999E8BE746}"/>
                </a:ext>
              </a:extLst>
            </p:cNvPr>
            <p:cNvSpPr/>
            <p:nvPr/>
          </p:nvSpPr>
          <p:spPr>
            <a:xfrm>
              <a:off x="5264028" y="35365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34" name="流程圖: 接點 33">
              <a:extLst>
                <a:ext uri="{FF2B5EF4-FFF2-40B4-BE49-F238E27FC236}">
                  <a16:creationId xmlns:a16="http://schemas.microsoft.com/office/drawing/2014/main" id="{66027504-81A1-5311-416B-547C8E0AC871}"/>
                </a:ext>
              </a:extLst>
            </p:cNvPr>
            <p:cNvSpPr/>
            <p:nvPr/>
          </p:nvSpPr>
          <p:spPr>
            <a:xfrm>
              <a:off x="5371831" y="3534387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35" name="流程圖: 接點 34">
              <a:extLst>
                <a:ext uri="{FF2B5EF4-FFF2-40B4-BE49-F238E27FC236}">
                  <a16:creationId xmlns:a16="http://schemas.microsoft.com/office/drawing/2014/main" id="{6C03B12C-37D8-A0CA-D6AD-5516D2569986}"/>
                </a:ext>
              </a:extLst>
            </p:cNvPr>
            <p:cNvSpPr/>
            <p:nvPr/>
          </p:nvSpPr>
          <p:spPr>
            <a:xfrm>
              <a:off x="5485805" y="3538175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0613F732-FC1D-4B38-DAB8-FE72D004B7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7462" y="3543300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流程圖: 接點 36">
              <a:extLst>
                <a:ext uri="{FF2B5EF4-FFF2-40B4-BE49-F238E27FC236}">
                  <a16:creationId xmlns:a16="http://schemas.microsoft.com/office/drawing/2014/main" id="{C770F499-676A-6428-E1FF-222FF1F07766}"/>
                </a:ext>
              </a:extLst>
            </p:cNvPr>
            <p:cNvSpPr/>
            <p:nvPr/>
          </p:nvSpPr>
          <p:spPr>
            <a:xfrm>
              <a:off x="7142757" y="3527202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FE31E6B-A205-971C-66E0-1D2919926BBB}"/>
                </a:ext>
              </a:extLst>
            </p:cNvPr>
            <p:cNvCxnSpPr>
              <a:cxnSpLocks/>
            </p:cNvCxnSpPr>
            <p:nvPr/>
          </p:nvCxnSpPr>
          <p:spPr>
            <a:xfrm>
              <a:off x="3898882" y="3552602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流程圖: 接點 38">
              <a:extLst>
                <a:ext uri="{FF2B5EF4-FFF2-40B4-BE49-F238E27FC236}">
                  <a16:creationId xmlns:a16="http://schemas.microsoft.com/office/drawing/2014/main" id="{CD6619A7-9053-9356-1CB1-543F58158169}"/>
                </a:ext>
              </a:extLst>
            </p:cNvPr>
            <p:cNvSpPr/>
            <p:nvPr/>
          </p:nvSpPr>
          <p:spPr>
            <a:xfrm>
              <a:off x="4604177" y="35365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文字方塊 39">
                  <a:extLst>
                    <a:ext uri="{FF2B5EF4-FFF2-40B4-BE49-F238E27FC236}">
                      <a16:creationId xmlns:a16="http://schemas.microsoft.com/office/drawing/2014/main" id="{DD0E0F4B-EEA4-B4A8-3417-1022C3A85FFD}"/>
                    </a:ext>
                  </a:extLst>
                </p:cNvPr>
                <p:cNvSpPr txBox="1"/>
                <p:nvPr/>
              </p:nvSpPr>
              <p:spPr>
                <a:xfrm>
                  <a:off x="3580483" y="3610198"/>
                  <a:ext cx="455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40" name="文字方塊 39">
                  <a:extLst>
                    <a:ext uri="{FF2B5EF4-FFF2-40B4-BE49-F238E27FC236}">
                      <a16:creationId xmlns:a16="http://schemas.microsoft.com/office/drawing/2014/main" id="{DD0E0F4B-EEA4-B4A8-3417-1022C3A85F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483" y="3610198"/>
                  <a:ext cx="45595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E293A0C4-5CB3-399B-C737-045136459E69}"/>
                    </a:ext>
                  </a:extLst>
                </p:cNvPr>
                <p:cNvSpPr txBox="1"/>
                <p:nvPr/>
              </p:nvSpPr>
              <p:spPr>
                <a:xfrm>
                  <a:off x="4398937" y="3610198"/>
                  <a:ext cx="46128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E293A0C4-5CB3-399B-C737-045136459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8937" y="3610198"/>
                  <a:ext cx="46128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6DA954C5-15CB-6FE8-34F0-6D9C81CB0638}"/>
                    </a:ext>
                  </a:extLst>
                </p:cNvPr>
                <p:cNvSpPr txBox="1"/>
                <p:nvPr/>
              </p:nvSpPr>
              <p:spPr>
                <a:xfrm>
                  <a:off x="6962917" y="3619500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6DA954C5-15CB-6FE8-34F0-6D9C81CB06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17" y="3619500"/>
                  <a:ext cx="52123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736F4B8C-52D0-6E54-EC49-2ACC26EED6A1}"/>
                  </a:ext>
                </a:extLst>
              </p:cNvPr>
              <p:cNvSpPr txBox="1"/>
              <p:nvPr/>
            </p:nvSpPr>
            <p:spPr>
              <a:xfrm>
                <a:off x="892807" y="4157195"/>
                <a:ext cx="53504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/>
                  <a:t>增加 </a:t>
                </a:r>
                <a:r>
                  <a:rPr lang="en-US" altLang="zh-TW" dirty="0"/>
                  <a:t>u </a:t>
                </a:r>
                <a:r>
                  <a:rPr lang="zh-TW" altLang="en-US" dirty="0"/>
                  <a:t>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的</m:t>
                    </m:r>
                  </m:oMath>
                </a14:m>
                <a:r>
                  <a:rPr lang="zh-TW" altLang="en-US" dirty="0">
                    <a:solidFill>
                      <a:schemeClr val="tx1"/>
                    </a:solidFill>
                  </a:rPr>
                  <a:t>鄰點，存在更長路徑，則與假設矛盾</a:t>
                </a:r>
              </a:p>
            </p:txBody>
          </p:sp>
        </mc:Choice>
        <mc:Fallback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736F4B8C-52D0-6E54-EC49-2ACC26EED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807" y="4157195"/>
                <a:ext cx="5350439" cy="369332"/>
              </a:xfrm>
              <a:prstGeom prst="rect">
                <a:avLst/>
              </a:prstGeom>
              <a:blipFill>
                <a:blip r:embed="rId11"/>
                <a:stretch>
                  <a:fillRect l="-911" t="-9836" r="-342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C3FBA652-BF5F-868B-A990-5B9A12313C09}"/>
              </a:ext>
            </a:extLst>
          </p:cNvPr>
          <p:cNvCxnSpPr>
            <a:cxnSpLocks/>
          </p:cNvCxnSpPr>
          <p:nvPr/>
        </p:nvCxnSpPr>
        <p:spPr>
          <a:xfrm>
            <a:off x="1960957" y="5174886"/>
            <a:ext cx="64829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流程圖: 接點 46">
            <a:extLst>
              <a:ext uri="{FF2B5EF4-FFF2-40B4-BE49-F238E27FC236}">
                <a16:creationId xmlns:a16="http://schemas.microsoft.com/office/drawing/2014/main" id="{276A02CD-0C3C-DBEA-0665-F9A79EDC9ACE}"/>
              </a:ext>
            </a:extLst>
          </p:cNvPr>
          <p:cNvSpPr/>
          <p:nvPr/>
        </p:nvSpPr>
        <p:spPr>
          <a:xfrm>
            <a:off x="1853154" y="5149486"/>
            <a:ext cx="50800" cy="508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>
              <a:solidFill>
                <a:srgbClr val="FF0000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4A70BCE-4BD4-72EC-CF3F-55B74F2337EA}"/>
              </a:ext>
            </a:extLst>
          </p:cNvPr>
          <p:cNvSpPr txBox="1"/>
          <p:nvPr/>
        </p:nvSpPr>
        <p:spPr>
          <a:xfrm>
            <a:off x="1697098" y="523459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u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924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32C3D-21AE-ECAE-367A-FC4D2E248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A3CFB-39E0-13D0-041E-EFFC4E855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1.6.5</a:t>
            </a:r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35DB5614-11A8-06AB-7215-4B75479514EB}"/>
              </a:ext>
            </a:extLst>
          </p:cNvPr>
          <p:cNvSpPr/>
          <p:nvPr/>
        </p:nvSpPr>
        <p:spPr>
          <a:xfrm>
            <a:off x="8593336" y="3417783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45462CC2-CE40-7ABF-EC40-93745F109E29}"/>
              </a:ext>
            </a:extLst>
          </p:cNvPr>
          <p:cNvSpPr/>
          <p:nvPr/>
        </p:nvSpPr>
        <p:spPr>
          <a:xfrm>
            <a:off x="10271339" y="3417783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2AB4086-73AE-FEBB-1C30-70FA21800443}"/>
              </a:ext>
            </a:extLst>
          </p:cNvPr>
          <p:cNvSpPr txBox="1"/>
          <p:nvPr/>
        </p:nvSpPr>
        <p:spPr>
          <a:xfrm>
            <a:off x="8882491" y="5558807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X</a:t>
            </a:r>
            <a:endParaRPr lang="zh-TW" altLang="en-US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D228EBB-069B-8755-D2CE-6F5C5CB7D0D3}"/>
              </a:ext>
            </a:extLst>
          </p:cNvPr>
          <p:cNvSpPr txBox="1"/>
          <p:nvPr/>
        </p:nvSpPr>
        <p:spPr>
          <a:xfrm>
            <a:off x="10560494" y="5558807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Y</a:t>
            </a:r>
            <a:endParaRPr lang="zh-TW" alt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88F22EA-F753-80B1-497B-935A2F28868E}"/>
                  </a:ext>
                </a:extLst>
              </p:cNvPr>
              <p:cNvSpPr txBox="1"/>
              <p:nvPr/>
            </p:nvSpPr>
            <p:spPr>
              <a:xfrm>
                <a:off x="9344503" y="2862625"/>
                <a:ext cx="12159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G</a:t>
                </a:r>
                <a:r>
                  <a:rPr lang="en-US" altLang="zh-TW" sz="1800" dirty="0"/>
                  <a:t> = X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TW" sz="1800" dirty="0"/>
                  <a:t>Y</a:t>
                </a:r>
                <a:endParaRPr lang="zh-TW" altLang="en-US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88F22EA-F753-80B1-497B-935A2F288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503" y="2862625"/>
                <a:ext cx="1215991" cy="369332"/>
              </a:xfrm>
              <a:prstGeom prst="rect">
                <a:avLst/>
              </a:prstGeom>
              <a:blipFill>
                <a:blip r:embed="rId2"/>
                <a:stretch>
                  <a:fillRect l="-4523" t="-8333" b="-2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B9A6ECFB-FF88-A89D-9587-A5C147BAF05E}"/>
              </a:ext>
            </a:extLst>
          </p:cNvPr>
          <p:cNvSpPr txBox="1"/>
          <p:nvPr/>
        </p:nvSpPr>
        <p:spPr>
          <a:xfrm>
            <a:off x="838200" y="1729208"/>
            <a:ext cx="3889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設 </a:t>
            </a:r>
            <a:r>
              <a:rPr lang="en-US" altLang="zh-TW" dirty="0"/>
              <a:t>G </a:t>
            </a:r>
            <a:r>
              <a:rPr lang="zh-TW" altLang="en-US" dirty="0"/>
              <a:t>不連通，則至少有 </a:t>
            </a:r>
            <a:r>
              <a:rPr lang="en-US" altLang="zh-TW" dirty="0"/>
              <a:t>2 </a:t>
            </a:r>
            <a:r>
              <a:rPr lang="zh-TW" altLang="en-US" dirty="0"/>
              <a:t>個連通</a:t>
            </a:r>
            <a:r>
              <a:rPr lang="zh-TW" altLang="en-US" dirty="0">
                <a:solidFill>
                  <a:srgbClr val="FF0000"/>
                </a:solidFill>
              </a:rPr>
              <a:t>分支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5901BF7-0BFB-89DB-3E7C-71ABA5E14EC8}"/>
                  </a:ext>
                </a:extLst>
              </p:cNvPr>
              <p:cNvSpPr txBox="1"/>
              <p:nvPr/>
            </p:nvSpPr>
            <p:spPr>
              <a:xfrm>
                <a:off x="838200" y="2178312"/>
                <a:ext cx="7755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/>
                  <a:t>設其中一個分支</a:t>
                </a:r>
                <a:r>
                  <a:rPr lang="en-US" altLang="zh-TW" dirty="0"/>
                  <a:t>(X)</a:t>
                </a:r>
                <a:r>
                  <a:rPr lang="zh-TW" altLang="en-US" dirty="0"/>
                  <a:t>有 </a:t>
                </a:r>
                <a:r>
                  <a:rPr lang="en-US" altLang="zh-TW" dirty="0"/>
                  <a:t>a </a:t>
                </a:r>
                <a:r>
                  <a:rPr lang="zh-TW" altLang="en-US" dirty="0"/>
                  <a:t>個頂點，另一部分</a:t>
                </a:r>
                <a:r>
                  <a:rPr lang="en-US" altLang="zh-TW" dirty="0"/>
                  <a:t>(Y)</a:t>
                </a:r>
                <a:r>
                  <a:rPr lang="zh-TW" altLang="en-US" dirty="0"/>
                  <a:t>有 </a:t>
                </a:r>
                <a:r>
                  <a:rPr lang="en-US" altLang="zh-TW" dirty="0"/>
                  <a:t>v-a </a:t>
                </a:r>
                <a:r>
                  <a:rPr lang="zh-TW" altLang="en-US" dirty="0"/>
                  <a:t>個頂點，其中 </a:t>
                </a:r>
                <a:r>
                  <a:rPr lang="en-US" altLang="zh-TW" dirty="0"/>
                  <a:t>1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a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altLang="zh-TW" dirty="0"/>
                  <a:t> v-1</a:t>
                </a:r>
                <a:endParaRPr lang="zh-TW" altLang="en-US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5901BF7-0BFB-89DB-3E7C-71ABA5E14E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78312"/>
                <a:ext cx="7755136" cy="369332"/>
              </a:xfrm>
              <a:prstGeom prst="rect">
                <a:avLst/>
              </a:prstGeom>
              <a:blipFill>
                <a:blip r:embed="rId3"/>
                <a:stretch>
                  <a:fillRect l="-708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1D7A95-BB57-A900-585F-3D72F0757F25}"/>
              </a:ext>
            </a:extLst>
          </p:cNvPr>
          <p:cNvSpPr txBox="1"/>
          <p:nvPr/>
        </p:nvSpPr>
        <p:spPr>
          <a:xfrm>
            <a:off x="8593336" y="4210716"/>
            <a:ext cx="1111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size = a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2AD9C1E-6A9F-9850-23C9-9D03F938DFD3}"/>
              </a:ext>
            </a:extLst>
          </p:cNvPr>
          <p:cNvSpPr txBox="1"/>
          <p:nvPr/>
        </p:nvSpPr>
        <p:spPr>
          <a:xfrm>
            <a:off x="10177482" y="4210716"/>
            <a:ext cx="1111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size = v-a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7484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2036D-2F2E-9035-BDBB-300C47C39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AFDB97-1D1A-D459-EA1A-34D907093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2541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24973-D2E5-75D5-34A0-3AA7E2688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75447B-B41C-CC37-AFE3-0283C39C2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0812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331</Words>
  <Application>Microsoft Office PowerPoint</Application>
  <PresentationFormat>寬螢幕</PresentationFormat>
  <Paragraphs>74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佈景主題</vt:lpstr>
      <vt:lpstr>2026.4.12</vt:lpstr>
      <vt:lpstr># 1.5.6(b) </vt:lpstr>
      <vt:lpstr># 1.5.6(b) </vt:lpstr>
      <vt:lpstr># 1.5.8*</vt:lpstr>
      <vt:lpstr># 1.5.9*</vt:lpstr>
      <vt:lpstr># 1.5.9*</vt:lpstr>
      <vt:lpstr># 1.6.3</vt:lpstr>
      <vt:lpstr># 1.6.5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崇安 李</dc:creator>
  <cp:lastModifiedBy>崇安 李</cp:lastModifiedBy>
  <cp:revision>10</cp:revision>
  <dcterms:created xsi:type="dcterms:W3CDTF">2026-04-12T06:15:25Z</dcterms:created>
  <dcterms:modified xsi:type="dcterms:W3CDTF">2026-04-12T09:47:36Z</dcterms:modified>
</cp:coreProperties>
</file>